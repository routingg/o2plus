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68F44"/>
                </a:solidFill>
                <a:latin typeface="Aptos"/>
              </a:rPr>
              <a:t>여기도, 제주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65836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페르소나에 빙의해서
제주 코스를 짜보면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761488"/>
            <a:ext cx="6858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DCE7E9"/>
                </a:solidFill>
                <a:latin typeface="Aptos"/>
              </a:rPr>
              <a:t>장소 추천이 아니라, “왜 이 사람이 이 장소를 선택했는가”를 데이터로 만드는 작업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960120"/>
            <a:ext cx="2468880" cy="713232"/>
          </a:xfrm>
          <a:prstGeom prst="roundRect">
            <a:avLst/>
          </a:prstGeom>
          <a:solidFill>
            <a:srgbClr val="244050"/>
          </a:solidFill>
          <a:ln>
            <a:solidFill>
              <a:srgbClr val="3E5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114300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9827C"/>
                </a:solidFill>
                <a:latin typeface="Aptos"/>
              </a:rPr>
              <a:t>PERSONA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2011680"/>
            <a:ext cx="2468880" cy="713232"/>
          </a:xfrm>
          <a:prstGeom prst="roundRect">
            <a:avLst/>
          </a:prstGeom>
          <a:solidFill>
            <a:srgbClr val="244050"/>
          </a:solidFill>
          <a:ln>
            <a:solidFill>
              <a:srgbClr val="3E5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219456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E68F44"/>
                </a:solidFill>
                <a:latin typeface="Aptos"/>
              </a:rPr>
              <a:t>WHY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3063239"/>
            <a:ext cx="2468880" cy="713232"/>
          </a:xfrm>
          <a:prstGeom prst="roundRect">
            <a:avLst/>
          </a:prstGeom>
          <a:solidFill>
            <a:srgbClr val="244050"/>
          </a:solidFill>
          <a:ln>
            <a:solidFill>
              <a:srgbClr val="3E5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324612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5D8199"/>
                </a:solidFill>
                <a:latin typeface="Aptos"/>
              </a:rPr>
              <a:t>ROUTE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4114800"/>
            <a:ext cx="2468880" cy="713232"/>
          </a:xfrm>
          <a:prstGeom prst="roundRect">
            <a:avLst/>
          </a:prstGeom>
          <a:solidFill>
            <a:srgbClr val="244050"/>
          </a:solidFill>
          <a:ln>
            <a:solidFill>
              <a:srgbClr val="3E5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297679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79967E"/>
                </a:solidFill>
                <a:latin typeface="Aptos"/>
              </a:rPr>
              <a:t>INDEX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60807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5C9CD"/>
                </a:solidFill>
                <a:latin typeface="Aptos"/>
              </a:rPr>
              <a:t>상무님 숙제 정리안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9827C"/>
                </a:solidFill>
                <a:latin typeface="Aptos"/>
              </a:rPr>
              <a:t>01 / 과제 해석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83041"/>
                </a:solidFill>
                <a:latin typeface="Aptos"/>
              </a:rPr>
              <a:t>코스 10개가 목적이 아니라 ‘선택 이유’를 찾는 실험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48840"/>
            <a:ext cx="1938528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52728" y="1938528"/>
            <a:ext cx="594360" cy="347472"/>
          </a:xfrm>
          <a:prstGeom prst="roundRect">
            <a:avLst/>
          </a:prstGeom>
          <a:solidFill>
            <a:srgbClr val="FA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52728" y="1947672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E68F44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16642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83041"/>
                </a:solidFill>
                <a:latin typeface="Aptos"/>
              </a:rPr>
              <a:t>페르소나 정의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54680"/>
            <a:ext cx="160934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66C6E"/>
                </a:solidFill>
                <a:latin typeface="Aptos"/>
              </a:rPr>
              <a:t>누구와, 몇 번째 제주인지,
무엇을 원하는지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9464" y="2971800"/>
            <a:ext cx="3108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39827C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2148840"/>
            <a:ext cx="1938528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38728" y="1938528"/>
            <a:ext cx="594360" cy="347472"/>
          </a:xfrm>
          <a:prstGeom prst="roundRect">
            <a:avLst/>
          </a:prstGeom>
          <a:solidFill>
            <a:srgbClr val="FA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38728" y="1947672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E68F44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514600"/>
            <a:ext cx="16642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83041"/>
                </a:solidFill>
                <a:latin typeface="Aptos"/>
              </a:rPr>
              <a:t>여행 행동으로 변환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2" y="3154680"/>
            <a:ext cx="160934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66C6E"/>
                </a:solidFill>
                <a:latin typeface="Aptos"/>
              </a:rPr>
              <a:t>속도·관심사·숙소·
이동 방식으로 구체화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55464" y="2971800"/>
            <a:ext cx="3108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39827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60" y="2148840"/>
            <a:ext cx="1938528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24728" y="1938528"/>
            <a:ext cx="594360" cy="347472"/>
          </a:xfrm>
          <a:prstGeom prst="roundRect">
            <a:avLst/>
          </a:prstGeom>
          <a:solidFill>
            <a:srgbClr val="FA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24728" y="1947672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E68F4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514600"/>
            <a:ext cx="16642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83041"/>
                </a:solidFill>
                <a:latin typeface="Aptos"/>
              </a:rPr>
              <a:t>실제 코스 구성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0952" y="3154680"/>
            <a:ext cx="160934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66C6E"/>
                </a:solidFill>
                <a:latin typeface="Aptos"/>
              </a:rPr>
              <a:t>시간대와 동선을 고려해
장소를 순서대로 배치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41464" y="2971800"/>
            <a:ext cx="3108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39827C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0" y="2148840"/>
            <a:ext cx="1938528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10728" y="1938528"/>
            <a:ext cx="594360" cy="347472"/>
          </a:xfrm>
          <a:prstGeom prst="roundRect">
            <a:avLst/>
          </a:prstGeom>
          <a:solidFill>
            <a:srgbClr val="FA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10728" y="1947672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E68F44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2514600"/>
            <a:ext cx="16642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83041"/>
                </a:solidFill>
                <a:latin typeface="Aptos"/>
              </a:rPr>
              <a:t>WHY 추출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16952" y="3154680"/>
            <a:ext cx="160934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66C6E"/>
                </a:solidFill>
                <a:latin typeface="Aptos"/>
              </a:rPr>
              <a:t>왜 하필 여기인지
페르소나 시점으로 설명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27464" y="2971800"/>
            <a:ext cx="3108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39827C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38360" y="2148840"/>
            <a:ext cx="1938528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396728" y="1938528"/>
            <a:ext cx="594360" cy="347472"/>
          </a:xfrm>
          <a:prstGeom prst="roundRect">
            <a:avLst/>
          </a:prstGeom>
          <a:solidFill>
            <a:srgbClr val="FA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96728" y="1947672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E68F44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2514600"/>
            <a:ext cx="16642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83041"/>
                </a:solidFill>
                <a:latin typeface="Aptos"/>
              </a:rPr>
              <a:t>인덱싱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02952" y="3154680"/>
            <a:ext cx="160934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66C6E"/>
                </a:solidFill>
                <a:latin typeface="Aptos"/>
              </a:rPr>
              <a:t>반복되는 선택 이유를
태그·추천 로직으로 전환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98348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핵심 질문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321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3041"/>
                </a:solidFill>
                <a:latin typeface="Aptos"/>
              </a:rPr>
              <a:t>“좋은 장소인가?”가 아니라  “이 사람이라면 왜 여기까지 찾아갈까?”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9827C"/>
                </a:solidFill>
                <a:latin typeface="Aptos"/>
              </a:rPr>
              <a:t>02 / 페르소나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83041"/>
                </a:solidFill>
                <a:latin typeface="Aptos"/>
              </a:rPr>
              <a:t>서로 다른 선택 논리를 만들기 위한 10종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52120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029967"/>
            <a:ext cx="566928" cy="347472"/>
          </a:xfrm>
          <a:prstGeom prst="roundRect">
            <a:avLst/>
          </a:prstGeom>
          <a:solidFill>
            <a:srgbClr val="E6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39111"/>
            <a:ext cx="56692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39827C"/>
                </a:solidFill>
                <a:latin typeface="Aptos"/>
              </a:rPr>
              <a:t>P01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1984248"/>
            <a:ext cx="2240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3041"/>
                </a:solidFill>
                <a:latin typeface="Aptos"/>
              </a:rPr>
              <a:t>첫 제주 20대 커플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984248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6C6E"/>
                </a:solidFill>
                <a:latin typeface="Aptos"/>
              </a:rPr>
              <a:t>대표풍경 · 사진 · 데이트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74519"/>
            <a:ext cx="52120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46520" y="2029967"/>
            <a:ext cx="566928" cy="347472"/>
          </a:xfrm>
          <a:prstGeom prst="roundRect">
            <a:avLst/>
          </a:prstGeom>
          <a:solidFill>
            <a:srgbClr val="E6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039111"/>
            <a:ext cx="56692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39827C"/>
                </a:solidFill>
                <a:latin typeface="Aptos"/>
              </a:rPr>
              <a:t>P02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0608" y="1984248"/>
            <a:ext cx="2240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3041"/>
                </a:solidFill>
                <a:latin typeface="Aptos"/>
              </a:rPr>
              <a:t>3번째 제주 30대 커플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1984248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6C6E"/>
                </a:solidFill>
                <a:latin typeface="Aptos"/>
              </a:rPr>
              <a:t>로컬 · 조용함 · 장기체류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715768"/>
            <a:ext cx="52120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2871215"/>
            <a:ext cx="566928" cy="347472"/>
          </a:xfrm>
          <a:prstGeom prst="roundRect">
            <a:avLst/>
          </a:prstGeom>
          <a:solidFill>
            <a:srgbClr val="E6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880359"/>
            <a:ext cx="56692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39827C"/>
                </a:solidFill>
                <a:latin typeface="Aptos"/>
              </a:rPr>
              <a:t>P03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2825496"/>
            <a:ext cx="2240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3041"/>
                </a:solidFill>
                <a:latin typeface="Aptos"/>
              </a:rPr>
              <a:t>20대 친구 3명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825496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6C6E"/>
                </a:solidFill>
                <a:latin typeface="Aptos"/>
              </a:rPr>
              <a:t>먹거리 · 사진 · 빠른 전환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715768"/>
            <a:ext cx="52120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46520" y="2871215"/>
            <a:ext cx="566928" cy="347472"/>
          </a:xfrm>
          <a:prstGeom prst="roundRect">
            <a:avLst/>
          </a:prstGeom>
          <a:solidFill>
            <a:srgbClr val="E6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880359"/>
            <a:ext cx="56692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39827C"/>
                </a:solidFill>
                <a:latin typeface="Aptos"/>
              </a:rPr>
              <a:t>P04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0608" y="2825496"/>
            <a:ext cx="2240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3041"/>
                </a:solidFill>
                <a:latin typeface="Aptos"/>
              </a:rPr>
              <a:t>초등 자녀 가족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825496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6C6E"/>
                </a:solidFill>
                <a:latin typeface="Aptos"/>
              </a:rPr>
              <a:t>체험 · 교육 · 가족편의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557015"/>
            <a:ext cx="52120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3712463"/>
            <a:ext cx="566928" cy="347472"/>
          </a:xfrm>
          <a:prstGeom prst="roundRect">
            <a:avLst/>
          </a:prstGeom>
          <a:solidFill>
            <a:srgbClr val="E6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721607"/>
            <a:ext cx="56692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39827C"/>
                </a:solidFill>
                <a:latin typeface="Aptos"/>
              </a:rPr>
              <a:t>P05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7048" y="3666744"/>
            <a:ext cx="2240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3041"/>
                </a:solidFill>
                <a:latin typeface="Aptos"/>
              </a:rPr>
              <a:t>4세 아이 가족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3666744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6C6E"/>
                </a:solidFill>
                <a:latin typeface="Aptos"/>
              </a:rPr>
              <a:t>낮잠 · 짧은이동 · 실내대안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557015"/>
            <a:ext cx="52120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46520" y="3712463"/>
            <a:ext cx="566928" cy="347472"/>
          </a:xfrm>
          <a:prstGeom prst="roundRect">
            <a:avLst/>
          </a:prstGeom>
          <a:solidFill>
            <a:srgbClr val="E6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3721607"/>
            <a:ext cx="56692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39827C"/>
                </a:solidFill>
                <a:latin typeface="Aptos"/>
              </a:rPr>
              <a:t>P06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50608" y="3666744"/>
            <a:ext cx="2240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3041"/>
                </a:solidFill>
                <a:latin typeface="Aptos"/>
              </a:rPr>
              <a:t>60대 부모님 가족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3666744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6C6E"/>
                </a:solidFill>
                <a:latin typeface="Aptos"/>
              </a:rPr>
              <a:t>저강도 · 경관 · 향토음식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4398264"/>
            <a:ext cx="52120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2960" y="4553712"/>
            <a:ext cx="566928" cy="347472"/>
          </a:xfrm>
          <a:prstGeom prst="roundRect">
            <a:avLst/>
          </a:prstGeom>
          <a:solidFill>
            <a:srgbClr val="E6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562856"/>
            <a:ext cx="56692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39827C"/>
                </a:solidFill>
                <a:latin typeface="Aptos"/>
              </a:rPr>
              <a:t>P07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7048" y="4507992"/>
            <a:ext cx="2240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3041"/>
                </a:solidFill>
                <a:latin typeface="Aptos"/>
              </a:rPr>
              <a:t>혼자 온 30대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507992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6C6E"/>
                </a:solidFill>
                <a:latin typeface="Aptos"/>
              </a:rPr>
              <a:t>산책 · 문화 · 혼자여도 자연스러움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4398264"/>
            <a:ext cx="52120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446520" y="4553712"/>
            <a:ext cx="566928" cy="347472"/>
          </a:xfrm>
          <a:prstGeom prst="roundRect">
            <a:avLst/>
          </a:prstGeom>
          <a:solidFill>
            <a:srgbClr val="E6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4562856"/>
            <a:ext cx="56692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39827C"/>
                </a:solidFill>
                <a:latin typeface="Aptos"/>
              </a:rPr>
              <a:t>P08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50608" y="4507992"/>
            <a:ext cx="2240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3041"/>
                </a:solidFill>
                <a:latin typeface="Aptos"/>
              </a:rPr>
              <a:t>자연 액티브 친구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4507992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6C6E"/>
                </a:solidFill>
                <a:latin typeface="Aptos"/>
              </a:rPr>
              <a:t>오름 · 숲 · 해안 · 활동량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" y="5239512"/>
            <a:ext cx="52120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22960" y="5394960"/>
            <a:ext cx="566928" cy="347472"/>
          </a:xfrm>
          <a:prstGeom prst="roundRect">
            <a:avLst/>
          </a:prstGeom>
          <a:solidFill>
            <a:srgbClr val="E6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5404104"/>
            <a:ext cx="56692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39827C"/>
                </a:solidFill>
                <a:latin typeface="Aptos"/>
              </a:rPr>
              <a:t>P09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27048" y="5349240"/>
            <a:ext cx="2240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3041"/>
                </a:solidFill>
                <a:latin typeface="Aptos"/>
              </a:rPr>
              <a:t>먹으러 온 재방문객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74720" y="5349240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6C6E"/>
                </a:solidFill>
                <a:latin typeface="Aptos"/>
              </a:rPr>
              <a:t>시장 · 노포 · 지역 식재료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09360" y="5239512"/>
            <a:ext cx="52120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446520" y="5394960"/>
            <a:ext cx="566928" cy="347472"/>
          </a:xfrm>
          <a:prstGeom prst="roundRect">
            <a:avLst/>
          </a:prstGeom>
          <a:solidFill>
            <a:srgbClr val="E6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6520" y="5404104"/>
            <a:ext cx="56692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39827C"/>
                </a:solidFill>
                <a:latin typeface="Aptos"/>
              </a:rPr>
              <a:t>P10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50608" y="5349240"/>
            <a:ext cx="2240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3041"/>
                </a:solidFill>
                <a:latin typeface="Aptos"/>
              </a:rPr>
              <a:t>아무것도 안 할 커플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98280" y="5349240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6C6E"/>
                </a:solidFill>
                <a:latin typeface="Aptos"/>
              </a:rPr>
              <a:t>숙소 · 여백 · 한 권역 집중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9827C"/>
                </a:solidFill>
                <a:latin typeface="Aptos"/>
              </a:rPr>
              <a:t>03 / WHY 작성법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83041"/>
                </a:solidFill>
                <a:latin typeface="Aptos"/>
              </a:rPr>
              <a:t>장소 설명이 아니라 ‘사람의 의사결정’을 쓴다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5074920" cy="3291840"/>
          </a:xfrm>
          <a:prstGeom prst="roundRect">
            <a:avLst/>
          </a:prstGeom>
          <a:solidFill>
            <a:srgbClr val="FCF2EE"/>
          </a:solidFill>
          <a:ln>
            <a:solidFill>
              <a:srgbClr val="F1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7627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C533D"/>
                </a:solidFill>
                <a:latin typeface="Aptos"/>
              </a:rPr>
              <a:t>✕ 장소 중심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88920"/>
            <a:ext cx="4389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D3032"/>
                </a:solidFill>
                <a:latin typeface="Aptos"/>
              </a:rPr>
              <a:t>도두봉은 경치가 좋고
공항에서 가깝다.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160520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C6E"/>
                </a:solidFill>
                <a:latin typeface="Aptos"/>
              </a:rPr>
              <a:t>장소의 일반적인 장점만 설명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74519"/>
            <a:ext cx="5349240" cy="3291840"/>
          </a:xfrm>
          <a:prstGeom prst="roundRect">
            <a:avLst/>
          </a:prstGeom>
          <a:solidFill>
            <a:srgbClr val="E6F1EF"/>
          </a:solidFill>
          <a:ln>
            <a:solidFill>
              <a:srgbClr val="C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7627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9827C"/>
                </a:solidFill>
                <a:latin typeface="Aptos"/>
              </a:rPr>
              <a:t>○ 페르소나 중심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70048"/>
            <a:ext cx="46177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83041"/>
                </a:solidFill>
                <a:latin typeface="Aptos"/>
              </a:rPr>
              <a:t>“첫 제주라 첫 장면부터 바다를 보고 싶다.
도착 직후 멀리 운전하긴 싫고,
둘이 여행 시작 사진도 남기고 싶다.”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315968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9827C"/>
                </a:solidFill>
                <a:latin typeface="Aptos"/>
              </a:rPr>
              <a:t>→ 도두봉을 ‘첫 장소’로 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6928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83041"/>
                </a:solidFill>
                <a:latin typeface="Aptos"/>
              </a:rPr>
              <a:t>선택 이유 = 장소 속성 × 페르소나 욕구 × 코스 내 역할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9827C"/>
                </a:solidFill>
                <a:latin typeface="Aptos"/>
              </a:rPr>
              <a:t>04 / PERSONA P01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83041"/>
                </a:solidFill>
                <a:latin typeface="Aptos"/>
              </a:rPr>
              <a:t>제주 첫 방문 20대 커플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C6E"/>
                </a:solidFill>
                <a:latin typeface="Aptos"/>
              </a:rPr>
              <a:t>“제주다운 건 보고 싶지만 관광지만 찍고 다니기는 싫다.”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01952"/>
            <a:ext cx="28803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9827C"/>
                </a:solidFill>
                <a:latin typeface="Aptos"/>
              </a:rPr>
              <a:t>여행 조건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2423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D3032"/>
                </a:solidFill>
                <a:latin typeface="Aptos"/>
              </a:rPr>
              <a:t>2박3일 · 제주시내 숙박
렌터카 · 커플
자연·사진 · 보통 페이스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9827C"/>
                </a:solidFill>
                <a:latin typeface="Aptos"/>
              </a:rPr>
              <a:t>선택 논리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60520"/>
            <a:ext cx="2423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3041"/>
                </a:solidFill>
                <a:latin typeface="Aptos"/>
              </a:rPr>
              <a:t>대표 풍경
+ 커플 경험
+ 제주 음식
+ 무리 없는 동선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93852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3041"/>
                </a:solidFill>
                <a:latin typeface="Aptos"/>
              </a:rPr>
              <a:t>장소를 고른 이유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2359152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39" y="2478024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도두봉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450592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공항 근처에서 바다와 오름을 처음 만나 ‘제주에 왔다’는 첫 장면을 만든다.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94760" y="3063240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39" y="3182112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자매국수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3154680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첫 끼부터 제주 음식을 먹고 싶고, 서쪽 이동 동선도 깨지지 않는다.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3767328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39" y="388620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한담해안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3858768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관광보다 둘이 걷고 이야기하는 ‘데이트 시간’을 넣는다.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4760" y="4471416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77639" y="4590288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협재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4562856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첫 제주라면 대표적인 제주 바다 하나는 제대로 보고 싶다.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94760" y="5175504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77639" y="5294376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금오름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5266944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둘째 날 마지막에 기억에 남을 풍경 하나를 하이라이트로 남긴다.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9827C"/>
                </a:solidFill>
                <a:latin typeface="Aptos"/>
              </a:rPr>
              <a:t>04 / PERSONA P02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83041"/>
                </a:solidFill>
                <a:latin typeface="Aptos"/>
              </a:rPr>
              <a:t>제주 3번째 방문 30대 커플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C6E"/>
                </a:solidFill>
                <a:latin typeface="Aptos"/>
              </a:rPr>
              <a:t>“유명지는 이미 봤다. 이번에는 제주에서 살아보는 느낌을 받고 싶다.”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01952"/>
            <a:ext cx="28803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9827C"/>
                </a:solidFill>
                <a:latin typeface="Aptos"/>
              </a:rPr>
              <a:t>여행 조건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2423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D3032"/>
                </a:solidFill>
                <a:latin typeface="Aptos"/>
              </a:rPr>
              <a:t>3박4일 · 애월·한림 숙박
렌터카 · 커플
로컬·휴식 · 느린 페이스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9827C"/>
                </a:solidFill>
                <a:latin typeface="Aptos"/>
              </a:rPr>
              <a:t>선택 논리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60520"/>
            <a:ext cx="2423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3041"/>
                </a:solidFill>
                <a:latin typeface="Aptos"/>
              </a:rPr>
              <a:t>유명지 회피
+ 생활권 경험
+ 산책
+ 오래 머무름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93852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3041"/>
                </a:solidFill>
                <a:latin typeface="Aptos"/>
              </a:rPr>
              <a:t>장소를 고른 이유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2359152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39" y="2478024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원도심 점심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450592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공항에서 유명 관광지로 직행하지 않고 사람들이 사는 제주에서 시작한다.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94760" y="3063240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39" y="3182112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저지오름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3154680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정상 인증보다 조용한 숲길을 걷는 재방문객다운 자연 경험을 고른다.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3767328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39" y="388620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현대미술관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3858768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자연만 반복하지 않고 같은 지역 안에서 문화로 여행의 결을 바꾼다.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4760" y="4471416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77639" y="4590288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모슬포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4562856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항구와 동네를 걸으며 제주 남서부의 다른 생활권을 경험한다.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94760" y="5175504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77639" y="5294376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사계해안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5266944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하루 마지막에 관광지를 하나 더 넣지 않고 바다 앞의 여백을 선택한다.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9827C"/>
                </a:solidFill>
                <a:latin typeface="Aptos"/>
              </a:rPr>
              <a:t>04 / PERSONA P03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83041"/>
                </a:solidFill>
                <a:latin typeface="Aptos"/>
              </a:rPr>
              <a:t>20대 친구 3명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C6E"/>
                </a:solidFill>
                <a:latin typeface="Aptos"/>
              </a:rPr>
              <a:t>“셋이 왔으니 맛있는 것도 먹고 사진도 많이 남기고 싶다.”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01952"/>
            <a:ext cx="28803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9827C"/>
                </a:solidFill>
                <a:latin typeface="Aptos"/>
              </a:rPr>
              <a:t>여행 조건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2423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D3032"/>
                </a:solidFill>
                <a:latin typeface="Aptos"/>
              </a:rPr>
              <a:t>2박3일 · 애월·한림 숙박
렌터카 · 친구 3명
먹거리·사진 · 빠른 페이스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9827C"/>
                </a:solidFill>
                <a:latin typeface="Aptos"/>
              </a:rPr>
              <a:t>선택 논리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60520"/>
            <a:ext cx="2423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3041"/>
                </a:solidFill>
                <a:latin typeface="Aptos"/>
              </a:rPr>
              <a:t>사진
+ 먹거리
+ 카페
+ 빠른 전환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93852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3041"/>
                </a:solidFill>
                <a:latin typeface="Aptos"/>
              </a:rPr>
              <a:t>장소를 고른 이유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2359152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39" y="2478024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도두 해안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450592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도착하자마자 셋의 첫 제주 사진을 빠르게 남길 수 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94760" y="3063240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39" y="3182112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애월 점심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3154680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서쪽 이동과 동시에 본격적인 먹거리 여행을 시작한다.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3767328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39" y="388620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애월 카페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3858768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이 페르소나에게 카페는 휴식이 아니라 하나의 여행 목적이다.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4760" y="4471416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77639" y="4590288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협재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4562856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첫날 가장 제주다운 바다 사진을 남기는 하이라이트다.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94760" y="5175504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77639" y="5294376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동문시장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5266944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여러 음식을 나눠 먹고 쇼핑까지 할 수 있어 친구 여행의 마지막에 맞다.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9827C"/>
                </a:solidFill>
                <a:latin typeface="Aptos"/>
              </a:rPr>
              <a:t>04 / PERSONA P04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83041"/>
                </a:solidFill>
                <a:latin typeface="Aptos"/>
              </a:rPr>
              <a:t>초등학생 자녀 가족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C6E"/>
                </a:solidFill>
                <a:latin typeface="Aptos"/>
              </a:rPr>
              <a:t>“아이도 재미있고 부모도 여행한 느낌이 있어야 한다.”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01952"/>
            <a:ext cx="28803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9827C"/>
                </a:solidFill>
                <a:latin typeface="Aptos"/>
              </a:rPr>
              <a:t>여행 조건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2423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D3032"/>
                </a:solidFill>
                <a:latin typeface="Aptos"/>
              </a:rPr>
              <a:t>3박4일 · 서귀포·중문 숙박
렌터카 · 가족
체험·자연 · 보통 페이스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9827C"/>
                </a:solidFill>
                <a:latin typeface="Aptos"/>
              </a:rPr>
              <a:t>선택 논리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60520"/>
            <a:ext cx="2423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3041"/>
                </a:solidFill>
                <a:latin typeface="Aptos"/>
              </a:rPr>
              <a:t>아이 재미
+ 부모 만족
+ 교육
+ 휴식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93852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3041"/>
                </a:solidFill>
                <a:latin typeface="Aptos"/>
              </a:rPr>
              <a:t>장소를 고른 이유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2359152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39" y="2478024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여미지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450592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부모는 정원, 아이는 관찰 요소를 즐겨 가족 모두 볼 것이 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94760" y="3063240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39" y="3182112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중문해변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3154680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정적인 관람 뒤 아이가 몸을 움직일 시간을 준다.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3767328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39" y="388620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항공우주박물관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3858768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초등학생에게 단순 구경이 아닌 학습·체험 콘텐츠를 준다.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4760" y="4471416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77639" y="4590288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오설록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4562856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오후 체력을 회복하면서 제주 특색도 함께 경험한다.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94760" y="5175504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77639" y="5294376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올레시장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5266944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가족 구성원이 각자 먹고 싶은 것을 고를 수 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9827C"/>
                </a:solidFill>
                <a:latin typeface="Aptos"/>
              </a:rPr>
              <a:t>04 / PERSONA P05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83041"/>
                </a:solidFill>
                <a:latin typeface="Aptos"/>
              </a:rPr>
              <a:t>4세 아이 동반 가족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C6E"/>
                </a:solidFill>
                <a:latin typeface="Aptos"/>
              </a:rPr>
              <a:t>“유명한 곳보다 아이가 안 힘든 게 먼저다.”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01952"/>
            <a:ext cx="28803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9827C"/>
                </a:solidFill>
                <a:latin typeface="Aptos"/>
              </a:rPr>
              <a:t>여행 조건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2423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D3032"/>
                </a:solidFill>
                <a:latin typeface="Aptos"/>
              </a:rPr>
              <a:t>2박3일 · 조천·구좌 숙박
렌터카 · 유아 가족
자연·휴식 · 느린 페이스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9827C"/>
                </a:solidFill>
                <a:latin typeface="Aptos"/>
              </a:rPr>
              <a:t>선택 논리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60520"/>
            <a:ext cx="2423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3041"/>
                </a:solidFill>
                <a:latin typeface="Aptos"/>
              </a:rPr>
              <a:t>아이 컨디션
&gt; 관광지 개수
+ 짧은 이동
+ 낮잠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93852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3041"/>
                </a:solidFill>
                <a:latin typeface="Aptos"/>
              </a:rPr>
              <a:t>장소를 고른 이유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2359152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39" y="2478024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함덕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450592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첫날 복잡한 체험보다 아이가 자유롭게 바다를 보는 정도로 시작한다.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94760" y="3063240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39" y="3182112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숙소 낮잠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3154680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남는 시간이 아니라 저녁 컨디션을 지키는 핵심 여행 슬롯이다.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3767328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39" y="388620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아쿠아플라넷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3858768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한 공간에서 볼거리가 많고 날씨 영향도 상대적으로 적다.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4760" y="4471416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77639" y="4590288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광치기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4562856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긴 체험보다 잠깐 제주 자연을 보여주는 짧은 야외 일정이다.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94760" y="5175504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77639" y="5294376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비자림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5266944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바다·실내 다음에는 숲이라는 새로운 자연 경험을 준다.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9827C"/>
                </a:solidFill>
                <a:latin typeface="Aptos"/>
              </a:rPr>
              <a:t>04 / PERSONA P06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83041"/>
                </a:solidFill>
                <a:latin typeface="Aptos"/>
              </a:rPr>
              <a:t>60대 부모님 동반 가족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C6E"/>
                </a:solidFill>
                <a:latin typeface="Aptos"/>
              </a:rPr>
              <a:t>“제주를 보여드리고 싶지만 힘들게 하고 싶지는 않다.”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01952"/>
            <a:ext cx="28803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9827C"/>
                </a:solidFill>
                <a:latin typeface="Aptos"/>
              </a:rPr>
              <a:t>여행 조건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2423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D3032"/>
                </a:solidFill>
                <a:latin typeface="Aptos"/>
              </a:rPr>
              <a:t>3박4일 · 서귀포·중문 숙박
렌터카 · 부모님 동반
자연·먹거리 · 느린 페이스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9827C"/>
                </a:solidFill>
                <a:latin typeface="Aptos"/>
              </a:rPr>
              <a:t>선택 논리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60520"/>
            <a:ext cx="2423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3041"/>
                </a:solidFill>
                <a:latin typeface="Aptos"/>
              </a:rPr>
              <a:t>저강도
+ 대표 경관
+ 휴식 빈도
+ 향토음식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93852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3041"/>
                </a:solidFill>
                <a:latin typeface="Aptos"/>
              </a:rPr>
              <a:t>장소를 고른 이유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2359152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39" y="2478024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중문 향토식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450592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첫 끼부터 제주 음식을 함께 먹어 여행의 의미를 만든다.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94760" y="3063240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39" y="3182112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주상절리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3154680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제주다운 지질 경관을 보여주되 실제 보행 부담은 사전 검수한다.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3767328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39" y="388620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카페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3858768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관광지가 아니라 부모님 체력 회복을 위한 의도적인 휴식 슬롯이다.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4760" y="4471416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77639" y="4590288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사계해안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4562856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차량 이동과 짧은 체류로 서남부 대표 경관을 경험한다.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94760" y="5175504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77639" y="5294376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약천사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5266944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마지막 날 차분한 공간에서 여행을 정리한다.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9827C"/>
                </a:solidFill>
                <a:latin typeface="Aptos"/>
              </a:rPr>
              <a:t>04 / PERSONA P07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83041"/>
                </a:solidFill>
                <a:latin typeface="Aptos"/>
              </a:rPr>
              <a:t>혼자 온 30대 여행자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C6E"/>
                </a:solidFill>
                <a:latin typeface="Aptos"/>
              </a:rPr>
              <a:t>“남들이 가는 곳보다 혼자 천천히 걸으면서 제주를 보고 싶다.”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01952"/>
            <a:ext cx="28803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9827C"/>
                </a:solidFill>
                <a:latin typeface="Aptos"/>
              </a:rPr>
              <a:t>여행 조건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2423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D3032"/>
                </a:solidFill>
                <a:latin typeface="Aptos"/>
              </a:rPr>
              <a:t>2박3일 · 제주시내 숙박
렌터카 · 혼자
문화·산책 · 느린 페이스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9827C"/>
                </a:solidFill>
                <a:latin typeface="Aptos"/>
              </a:rPr>
              <a:t>선택 논리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60520"/>
            <a:ext cx="2423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3041"/>
                </a:solidFill>
                <a:latin typeface="Aptos"/>
              </a:rPr>
              <a:t>혼자여도 자연스러움
+ 걷기
+ 관찰
+ 문화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93852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3041"/>
                </a:solidFill>
                <a:latin typeface="Aptos"/>
              </a:rPr>
              <a:t>장소를 고른 이유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2359152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39" y="2478024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원도심 혼밥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450592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혼자 먹어도 부담 없는 곳에서 여행을 시작한다.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94760" y="3063240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39" y="3182112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제주목관아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3154680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골목을 걷기 전에 제주 원도심의 맥락을 먼저 이해한다.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3767328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39" y="388620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원도심 골목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3858768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목적지보다 혼자 걷고 관찰하는 과정 자체가 콘텐츠다.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4760" y="4471416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77639" y="4590288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사려니숲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4562856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대화 상대가 없어도 걷는 행위 자체로 시간이 채워진다.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94760" y="5175504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77639" y="5294376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박물관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5266944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오후에 혼자 천천히 제주 이야기를 읽을 수 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9827C"/>
                </a:solidFill>
                <a:latin typeface="Aptos"/>
              </a:rPr>
              <a:t>04 / PERSONA P08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83041"/>
                </a:solidFill>
                <a:latin typeface="Aptos"/>
              </a:rPr>
              <a:t>자연 중심 액티브 여행자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C6E"/>
                </a:solidFill>
                <a:latin typeface="Aptos"/>
              </a:rPr>
              <a:t>“카페에 앉아 있을 시간에 오름 하나 더 가고 싶다.”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01952"/>
            <a:ext cx="28803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9827C"/>
                </a:solidFill>
                <a:latin typeface="Aptos"/>
              </a:rPr>
              <a:t>여행 조건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2423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D3032"/>
                </a:solidFill>
                <a:latin typeface="Aptos"/>
              </a:rPr>
              <a:t>3박4일 · 성산·표선 숙박
렌터카 · 친구
자연 · 빠른 페이스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9827C"/>
                </a:solidFill>
                <a:latin typeface="Aptos"/>
              </a:rPr>
              <a:t>선택 논리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60520"/>
            <a:ext cx="2423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3041"/>
                </a:solidFill>
                <a:latin typeface="Aptos"/>
              </a:rPr>
              <a:t>활동량
+ 오름
+ 숲
+ 해안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93852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3041"/>
                </a:solidFill>
                <a:latin typeface="Aptos"/>
              </a:rPr>
              <a:t>장소를 고른 이유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2359152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39" y="2478024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사려니숲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450592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첫 일정부터 숲을 걸어 이번 여행의 성격을 명확히 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94760" y="3063240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39" y="3182112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따라비오름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3154680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숲 다음에는 오름이라는 다른 지형을 직접 걷는다.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3767328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39" y="388620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성산일출봉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3858768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유명해서가 아니라 ‘올라가는 활동’이 있어 이 페르소나에 맞다.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4760" y="4471416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77639" y="4590288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섭지코지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4562856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오후에도 계속 걷는 자연 콘텐츠를 유지한다.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94760" y="5175504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77639" y="5294376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다랑쉬오름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5266944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보다 본격적인 오름 경험으로 활동 강도를 높인다.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9827C"/>
                </a:solidFill>
                <a:latin typeface="Aptos"/>
              </a:rPr>
              <a:t>04 / PERSONA P09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83041"/>
                </a:solidFill>
                <a:latin typeface="Aptos"/>
              </a:rPr>
              <a:t>먹으러 제주 오는 재방문객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C6E"/>
                </a:solidFill>
                <a:latin typeface="Aptos"/>
              </a:rPr>
              <a:t>“이번 여행에서 기억하고 싶은 건 뭘 먹었느냐다.”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01952"/>
            <a:ext cx="28803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9827C"/>
                </a:solidFill>
                <a:latin typeface="Aptos"/>
              </a:rPr>
              <a:t>여행 조건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2423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D3032"/>
                </a:solidFill>
                <a:latin typeface="Aptos"/>
              </a:rPr>
              <a:t>2박3일 · 제주시내 숙박
렌터카 · 친구
먹거리 · 보통 페이스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9827C"/>
                </a:solidFill>
                <a:latin typeface="Aptos"/>
              </a:rPr>
              <a:t>선택 논리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60520"/>
            <a:ext cx="2423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3041"/>
                </a:solidFill>
                <a:latin typeface="Aptos"/>
              </a:rPr>
              <a:t>음식 자체가 목적
+ 시장
+ 지역 식재료
+ 동네 식사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93852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3041"/>
                </a:solidFill>
                <a:latin typeface="Aptos"/>
              </a:rPr>
              <a:t>장소를 고른 이유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2359152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39" y="2478024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동문시장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450592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초반에 제주 식재료와 먹거리 지형을 한 번에 훑는다.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94760" y="3063240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39" y="3182112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고기국수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3154680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제주를 대표하는 일상 음식으로 첫날의 기준점을 만든다.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3767328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39" y="388620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한림오일장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3858768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관광시장과 다른 생활형 시장을 경험한다. 장날 검수가 필수다.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4760" y="4471416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77639" y="4590288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신창 산책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4562856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또 먹기 전에 소화하면서 제주 풍경도 놓치지 않는다.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94760" y="5175504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77639" y="5294376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모슬포 해산물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5266944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항구라는 장소성과 먹거리를 직접 연결한다.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9827C"/>
                </a:solidFill>
                <a:latin typeface="Aptos"/>
              </a:rPr>
              <a:t>04 / PERSONA P10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83041"/>
                </a:solidFill>
                <a:latin typeface="Aptos"/>
              </a:rPr>
              <a:t>아무것도 많이 하고 싶지 않은 커플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C6E"/>
                </a:solidFill>
                <a:latin typeface="Aptos"/>
              </a:rPr>
              <a:t>“좋은 곳에서 그냥 같이 있고 싶다.”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01952"/>
            <a:ext cx="28803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9827C"/>
                </a:solidFill>
                <a:latin typeface="Aptos"/>
              </a:rPr>
              <a:t>여행 조건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2423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D3032"/>
                </a:solidFill>
                <a:latin typeface="Aptos"/>
              </a:rPr>
              <a:t>3박4일 · 대정·안덕 숙박
렌터카 · 커플
휴식 · 매우 느린 페이스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9827C"/>
                </a:solidFill>
                <a:latin typeface="Aptos"/>
              </a:rPr>
              <a:t>선택 논리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60520"/>
            <a:ext cx="2423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3041"/>
                </a:solidFill>
                <a:latin typeface="Aptos"/>
              </a:rPr>
              <a:t>적게 보기
+ 오래 머물기
+ 숙소도 콘텐츠
+ 여백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93852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3041"/>
                </a:solidFill>
                <a:latin typeface="Aptos"/>
              </a:rPr>
              <a:t>장소를 고른 이유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2359152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39" y="2478024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사계 점심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450592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관광보다 숙소 생활권으로 먼저 들어가 여행 속도를 낮춘다.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94760" y="3063240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39" y="3182112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숙소 휴식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3154680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남는 시간이 아니라 이 여행에서 가장 중요한 콘텐츠 중 하나다.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3767328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39" y="388620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사계 일몰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3858768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첫날 외부 하이라이트를 딱 하나만 두고 좋은 풍경에 집중한다.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4760" y="4471416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77639" y="4590288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카페 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4562856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이동 사이 빈 시간이 아니라 1~2시간 아무것도 하지 않는 목적이다.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94760" y="5175504"/>
            <a:ext cx="7726679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77639" y="5294376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9827C"/>
                </a:solidFill>
                <a:latin typeface="Aptos"/>
              </a:rPr>
              <a:t>모슬포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5266944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032"/>
                </a:solidFill>
                <a:latin typeface="Aptos"/>
              </a:rPr>
              <a:t>한 동네에서 걷고 먹으며 다른 권역으로 계속 이동하지 않는다.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9827C"/>
                </a:solidFill>
                <a:latin typeface="Aptos"/>
              </a:rPr>
              <a:t>05 / 인덱싱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83041"/>
                </a:solidFill>
                <a:latin typeface="Aptos"/>
              </a:rPr>
              <a:t>10개 코스를 짜보니 반복되는 ‘선택 이유’가 보인다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01952"/>
            <a:ext cx="521208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20824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9827C"/>
                </a:solidFill>
                <a:latin typeface="Aptos"/>
              </a:rPr>
              <a:t>PERSONA 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011680"/>
            <a:ext cx="3383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3032"/>
                </a:solidFill>
                <a:latin typeface="Aptos"/>
              </a:rPr>
              <a:t>커플 · 혼자 · 유아 · 초등 · 부모님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901952"/>
            <a:ext cx="521208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20824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9827C"/>
                </a:solidFill>
                <a:latin typeface="Aptos"/>
              </a:rPr>
              <a:t>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011680"/>
            <a:ext cx="3383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3032"/>
                </a:solidFill>
                <a:latin typeface="Aptos"/>
              </a:rPr>
              <a:t>빠름 · 보통 · 느림 · 매우 느림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862072"/>
            <a:ext cx="521208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80944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9827C"/>
                </a:solidFill>
                <a:latin typeface="Aptos"/>
              </a:rPr>
              <a:t>PURPOSE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971800"/>
            <a:ext cx="3383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3032"/>
                </a:solidFill>
                <a:latin typeface="Aptos"/>
              </a:rPr>
              <a:t>먹거리 · 자연 · 문화 · 휴식 · 사진 · 체험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862072"/>
            <a:ext cx="521208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980944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9827C"/>
                </a:solidFill>
                <a:latin typeface="Aptos"/>
              </a:rPr>
              <a:t>ROUTE 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971800"/>
            <a:ext cx="3383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3032"/>
                </a:solidFill>
                <a:latin typeface="Aptos"/>
              </a:rPr>
              <a:t>시작 · 전환 · 휴식 · 하이라이트 · 마무리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822191"/>
            <a:ext cx="521208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941063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9827C"/>
                </a:solidFill>
                <a:latin typeface="Aptos"/>
              </a:rPr>
              <a:t>MOBILITY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931920"/>
            <a:ext cx="3383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3032"/>
                </a:solidFill>
                <a:latin typeface="Aptos"/>
              </a:rPr>
              <a:t>짧은 이동 · 숙소 인접 · 공항 방향 · 원정일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822191"/>
            <a:ext cx="521208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941063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9827C"/>
                </a:solidFill>
                <a:latin typeface="Aptos"/>
              </a:rPr>
              <a:t>CONDITION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3931920"/>
            <a:ext cx="3383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3032"/>
                </a:solidFill>
                <a:latin typeface="Aptos"/>
              </a:rPr>
              <a:t>실내 · 비오는날 · 낮잠 · 보행부담 · 예약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782312"/>
            <a:ext cx="521208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901184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9827C"/>
                </a:solidFill>
                <a:latin typeface="Aptos"/>
              </a:rPr>
              <a:t>LOCALITY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4892040"/>
            <a:ext cx="3383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3032"/>
                </a:solidFill>
                <a:latin typeface="Aptos"/>
              </a:rPr>
              <a:t>대표경관 · 생활권 · 노포 · 시장 · 로컬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782312"/>
            <a:ext cx="521208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901184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9827C"/>
                </a:solidFill>
                <a:latin typeface="Aptos"/>
              </a:rPr>
              <a:t>STAY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4892040"/>
            <a:ext cx="3383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3032"/>
                </a:solidFill>
                <a:latin typeface="Aptos"/>
              </a:rPr>
              <a:t>30분 · 60분 · 90분 · 장기체류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98932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83041"/>
                </a:solidFill>
                <a:latin typeface="Aptos"/>
              </a:rPr>
              <a:t>장소 속성만으로는 부족 → “누구에게 / 어떤 속도로 / 코스에서 어떤 역할인지”까지 저장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9827C"/>
                </a:solidFill>
                <a:latin typeface="Aptos"/>
              </a:rPr>
              <a:t>06 / 데이터 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83041"/>
                </a:solidFill>
                <a:latin typeface="Aptos"/>
              </a:rPr>
              <a:t>P05가 아쿠아플라넷을 고른 이유를 데이터로 바꾸면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070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2057400"/>
            <a:ext cx="502920" cy="347472"/>
          </a:xfrm>
          <a:prstGeom prst="roundRect">
            <a:avLst/>
          </a:prstGeom>
          <a:solidFill>
            <a:srgbClr val="FA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66543"/>
            <a:ext cx="502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E68F44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975104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3041"/>
                </a:solidFill>
                <a:latin typeface="Aptos"/>
              </a:rPr>
              <a:t>표면 이유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938528"/>
            <a:ext cx="78638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3032"/>
                </a:solidFill>
                <a:latin typeface="Aptos"/>
              </a:rPr>
              <a:t>아이에게 볼거리가 많다.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44368"/>
            <a:ext cx="106070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3172968"/>
            <a:ext cx="502920" cy="347472"/>
          </a:xfrm>
          <a:prstGeom prst="roundRect">
            <a:avLst/>
          </a:prstGeom>
          <a:solidFill>
            <a:srgbClr val="FA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182111"/>
            <a:ext cx="502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E68F44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090672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3041"/>
                </a:solidFill>
                <a:latin typeface="Aptos"/>
              </a:rPr>
              <a:t>페르소나 이유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3054096"/>
            <a:ext cx="78638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3032"/>
                </a:solidFill>
                <a:latin typeface="Aptos"/>
              </a:rPr>
              <a:t>4세 아이는 장시간 걷는 자연 관광보다 한 공간에서 다양한 것을 보는 편이 부담이 적다.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59935"/>
            <a:ext cx="106070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" y="4288536"/>
            <a:ext cx="502920" cy="347472"/>
          </a:xfrm>
          <a:prstGeom prst="roundRect">
            <a:avLst/>
          </a:prstGeom>
          <a:solidFill>
            <a:srgbClr val="FA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297679"/>
            <a:ext cx="502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E68F44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20624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3041"/>
                </a:solidFill>
                <a:latin typeface="Aptos"/>
              </a:rPr>
              <a:t>코스 이유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4169664"/>
            <a:ext cx="78638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3032"/>
                </a:solidFill>
                <a:latin typeface="Aptos"/>
              </a:rPr>
              <a:t>컨디션이 좋은 오전에 핵심 콘텐츠로 배치하고 이후 짧은 야외 일정으로 전환한다.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2180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9827C"/>
                </a:solidFill>
                <a:latin typeface="Aptos"/>
              </a:rPr>
              <a:t>추출 태그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687568"/>
            <a:ext cx="1143000" cy="347472"/>
          </a:xfrm>
          <a:prstGeom prst="roundRect">
            <a:avLst/>
          </a:prstGeom>
          <a:solidFill>
            <a:srgbClr val="E6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696712"/>
            <a:ext cx="1143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39827C"/>
                </a:solidFill>
                <a:latin typeface="Aptos"/>
              </a:rPr>
              <a:t>유아적합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48840" y="5687568"/>
            <a:ext cx="1143000" cy="347472"/>
          </a:xfrm>
          <a:prstGeom prst="roundRect">
            <a:avLst/>
          </a:prstGeom>
          <a:solidFill>
            <a:srgbClr val="E6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48840" y="5696712"/>
            <a:ext cx="1143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39827C"/>
                </a:solidFill>
                <a:latin typeface="Aptos"/>
              </a:rPr>
              <a:t>실내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74720" y="5687568"/>
            <a:ext cx="1143000" cy="347472"/>
          </a:xfrm>
          <a:prstGeom prst="roundRect">
            <a:avLst/>
          </a:prstGeom>
          <a:solidFill>
            <a:srgbClr val="E6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5696712"/>
            <a:ext cx="1143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39827C"/>
                </a:solidFill>
                <a:latin typeface="Aptos"/>
              </a:rPr>
              <a:t>날씨대안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00600" y="5687568"/>
            <a:ext cx="1143000" cy="347472"/>
          </a:xfrm>
          <a:prstGeom prst="roundRect">
            <a:avLst/>
          </a:prstGeom>
          <a:solidFill>
            <a:srgbClr val="E6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5696712"/>
            <a:ext cx="1143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39827C"/>
                </a:solidFill>
                <a:latin typeface="Aptos"/>
              </a:rPr>
              <a:t>오전핵심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5687568"/>
            <a:ext cx="1143000" cy="347472"/>
          </a:xfrm>
          <a:prstGeom prst="roundRect">
            <a:avLst/>
          </a:prstGeom>
          <a:solidFill>
            <a:srgbClr val="E6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5696712"/>
            <a:ext cx="1143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39827C"/>
                </a:solidFill>
                <a:latin typeface="Aptos"/>
              </a:rPr>
              <a:t>장기체류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52360" y="5687568"/>
            <a:ext cx="1143000" cy="347472"/>
          </a:xfrm>
          <a:prstGeom prst="roundRect">
            <a:avLst/>
          </a:prstGeom>
          <a:solidFill>
            <a:srgbClr val="E6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52360" y="5696712"/>
            <a:ext cx="1143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39827C"/>
                </a:solidFill>
                <a:latin typeface="Aptos"/>
              </a:rPr>
              <a:t>가족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78240" y="5687568"/>
            <a:ext cx="1143000" cy="347472"/>
          </a:xfrm>
          <a:prstGeom prst="roundRect">
            <a:avLst/>
          </a:prstGeom>
          <a:solidFill>
            <a:srgbClr val="E6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5696712"/>
            <a:ext cx="1143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39827C"/>
                </a:solidFill>
                <a:latin typeface="Aptos"/>
              </a:rPr>
              <a:t>체력부담↓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04120" y="5687568"/>
            <a:ext cx="1143000" cy="347472"/>
          </a:xfrm>
          <a:prstGeom prst="roundRect">
            <a:avLst/>
          </a:prstGeom>
          <a:solidFill>
            <a:srgbClr val="E6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04120" y="5696712"/>
            <a:ext cx="1143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39827C"/>
                </a:solidFill>
                <a:latin typeface="Aptos"/>
              </a:rPr>
              <a:t>성산권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68F44"/>
                </a:solidFill>
                <a:latin typeface="Aptos"/>
              </a:rPr>
              <a:t>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80467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장소를 태깅하는 것만으로는
추천의 이유를 설명할 수 없다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063240"/>
            <a:ext cx="1965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CDE0E1"/>
                </a:solidFill>
                <a:latin typeface="Aptos"/>
              </a:rPr>
              <a:t>장소 속성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306324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E68F44"/>
                </a:solidFill>
                <a:latin typeface="Aptos"/>
              </a:rPr>
              <a:t>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306324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CDE0E1"/>
                </a:solidFill>
                <a:latin typeface="Aptos"/>
              </a:rPr>
              <a:t>페르소나 적합성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306324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E68F44"/>
                </a:solidFill>
                <a:latin typeface="Aptos"/>
              </a:rPr>
              <a:t>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306324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CDE0E1"/>
                </a:solidFill>
                <a:latin typeface="Aptos"/>
              </a:rPr>
              <a:t>코스 안의 역할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306324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E68F44"/>
                </a:solidFill>
                <a:latin typeface="Aptos"/>
              </a:rPr>
              <a:t>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3063240"/>
            <a:ext cx="1508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추천 이유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이번 10개 코스는 완성 여행상품이 아니라,
‘왜 이 사람이 이 장소를 선택하는가’를 발견하기 위한 추천 로직 설계 실험이다.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9788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B9CCD0"/>
                </a:solidFill>
                <a:latin typeface="Aptos"/>
              </a:rPr>
              <a:t>다음 단계  |  이유 1,000+건 → 반복 패턴 통폐합 → 최종 태그 사전 → DB 컬럼 확정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